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6EE546-63AE-4C1B-9296-758616A42D5A}">
  <a:tblStyle styleId="{306EE546-63AE-4C1B-9296-758616A42D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c7d4e44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7c7d4e44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c7d4e44f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7c7d4e44f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7c7d4e44f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7c7d4e44f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7c7d4e44f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e7c7d4e44f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c7d4e44f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7c7d4e44f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7c7d4e44f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7c7d4e44f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7c7d4e44f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7c7d4e44f_2_1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c7d4e44f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7c7d4e44f_2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7c7d4e44f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7c7d4e44f_2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7c7d4e44f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7c7d4e44f_2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7c7d4e44f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7c7d4e44f_2_2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7c7d4e44f_2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7c7d4e44f_2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6F8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9143771" cy="788670"/>
          </a:xfrm>
          <a:prstGeom prst="rect">
            <a:avLst/>
          </a:prstGeom>
          <a:solidFill>
            <a:srgbClr val="1224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45770" y="1062990"/>
            <a:ext cx="56235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Efficient Transformer</a:t>
            </a:r>
            <a:br>
              <a:rPr b="1" i="0" lang="en-GB" sz="3000" u="none" cap="none" strike="noStrike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3000" u="none" cap="none" strike="noStrike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Inference for Text Classification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466344" y="2503170"/>
            <a:ext cx="617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DistilBERT · SST-2 · Dynamic Quantization · torch.compile</a:t>
            </a:r>
            <a:endParaRPr sz="1100"/>
          </a:p>
        </p:txBody>
      </p:sp>
      <p:sp>
        <p:nvSpPr>
          <p:cNvPr id="133" name="Google Shape;133;p25"/>
          <p:cNvSpPr/>
          <p:nvPr/>
        </p:nvSpPr>
        <p:spPr>
          <a:xfrm>
            <a:off x="6343650" y="1062990"/>
            <a:ext cx="2263140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90.48%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FP32 validation accuracy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789 / 872 correct</a:t>
            </a:r>
            <a:endParaRPr sz="1100"/>
          </a:p>
        </p:txBody>
      </p:sp>
      <p:sp>
        <p:nvSpPr>
          <p:cNvPr id="134" name="Google Shape;134;p25"/>
          <p:cNvSpPr/>
          <p:nvPr/>
        </p:nvSpPr>
        <p:spPr>
          <a:xfrm>
            <a:off x="6343650" y="1954530"/>
            <a:ext cx="2263140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1.83×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INT8 batch-8 latency speedup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435.28 → 238.40 ms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6343650" y="2846070"/>
            <a:ext cx="2263140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48.2%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model size reduction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255.45 → 132.29 MB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445770" y="442341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Team: Abinesh · Akshith · Arushi   |   CSCI 611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138" name="Google Shape;138;p25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Problem: accurate models also need efficient inference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production, model quality is only one part of deployment readiness.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514350" y="92583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Transformer models can achieve strong accuracy but still be expensive during inference.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Production systems care about latency, throughput, memory footprint, and model size.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Optimization can change numerical behavior, so accuracy must be measured after optimization.</a:t>
            </a:r>
            <a:endParaRPr sz="1100"/>
          </a:p>
        </p:txBody>
      </p:sp>
      <p:sp>
        <p:nvSpPr>
          <p:cNvPr id="147" name="Google Shape;147;p26"/>
          <p:cNvSpPr/>
          <p:nvPr/>
        </p:nvSpPr>
        <p:spPr>
          <a:xfrm>
            <a:off x="4903470" y="857250"/>
            <a:ext cx="363474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 Train baseline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Fine-tune DistilBERT on SST-2 and record FP32 quality.</a:t>
            </a:r>
            <a:endParaRPr sz="1100"/>
          </a:p>
        </p:txBody>
      </p:sp>
      <p:sp>
        <p:nvSpPr>
          <p:cNvPr id="148" name="Google Shape;148;p26"/>
          <p:cNvSpPr/>
          <p:nvPr/>
        </p:nvSpPr>
        <p:spPr>
          <a:xfrm>
            <a:off x="4903470" y="1783080"/>
            <a:ext cx="363474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2. Optimize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Apply dynamic quantization and torch.compile to the same checkpoint.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4903470" y="2708910"/>
            <a:ext cx="363474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3. Benchmark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Measure accuracy, latency, throughput, size, memory, and compile overhead.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617220" y="3737610"/>
            <a:ext cx="174879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2743200" y="3737610"/>
            <a:ext cx="174879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sz="1100"/>
          </a:p>
        </p:txBody>
      </p:sp>
      <p:sp>
        <p:nvSpPr>
          <p:cNvPr id="152" name="Google Shape;152;p26"/>
          <p:cNvSpPr/>
          <p:nvPr/>
        </p:nvSpPr>
        <p:spPr>
          <a:xfrm>
            <a:off x="4869180" y="3737610"/>
            <a:ext cx="174879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Model size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6995160" y="3737610"/>
            <a:ext cx="174879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Dataset and task: SST-2 sentiment classification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Binary text classification using a full SST-2 fine-tuning run.</a:t>
            </a:r>
            <a:endParaRPr sz="1100"/>
          </a:p>
        </p:txBody>
      </p:sp>
      <p:sp>
        <p:nvSpPr>
          <p:cNvPr id="163" name="Google Shape;163;p27"/>
          <p:cNvSpPr/>
          <p:nvPr/>
        </p:nvSpPr>
        <p:spPr>
          <a:xfrm>
            <a:off x="514350" y="857250"/>
            <a:ext cx="18859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67,349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training examples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train split</a:t>
            </a:r>
            <a:endParaRPr sz="1100"/>
          </a:p>
        </p:txBody>
      </p:sp>
      <p:sp>
        <p:nvSpPr>
          <p:cNvPr id="164" name="Google Shape;164;p27"/>
          <p:cNvSpPr/>
          <p:nvPr/>
        </p:nvSpPr>
        <p:spPr>
          <a:xfrm>
            <a:off x="2640330" y="857250"/>
            <a:ext cx="18859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872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validation examples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labeled eval split</a:t>
            </a:r>
            <a:endParaRPr sz="1100"/>
          </a:p>
        </p:txBody>
      </p:sp>
      <p:sp>
        <p:nvSpPr>
          <p:cNvPr id="165" name="Google Shape;165;p27"/>
          <p:cNvSpPr/>
          <p:nvPr/>
        </p:nvSpPr>
        <p:spPr>
          <a:xfrm>
            <a:off x="4766310" y="857250"/>
            <a:ext cx="18859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0 /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negative / positive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6892290" y="857250"/>
            <a:ext cx="18859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A100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training hardware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run</a:t>
            </a:r>
            <a:endParaRPr sz="1100"/>
          </a:p>
        </p:txBody>
      </p:sp>
      <p:graphicFrame>
        <p:nvGraphicFramePr>
          <p:cNvPr id="167" name="Google Shape;167;p27"/>
          <p:cNvGraphicFramePr/>
          <p:nvPr/>
        </p:nvGraphicFramePr>
        <p:xfrm>
          <a:off x="617220" y="1885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{306EE546-63AE-4C1B-9296-758616A42D5A}</a:tableStyleId>
              </a:tblPr>
              <a:tblGrid>
                <a:gridCol w="2948925"/>
                <a:gridCol w="1234425"/>
              </a:tblGrid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sentence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“I really enjoyed the film.”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 (1)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“The acting was boring and weak.”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 (0)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“This movie was excellent and emotional.”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 (1)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27"/>
          <p:cNvSpPr/>
          <p:nvPr/>
        </p:nvSpPr>
        <p:spPr>
          <a:xfrm>
            <a:off x="5040630" y="1817370"/>
            <a:ext cx="3497580" cy="126873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Why tokenization is needed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DistilBERT cannot consume raw strings. The tokenizer converts sentences into input_ids, and attention_mask marks real tokens versus padding.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857250" y="3634740"/>
            <a:ext cx="7475220" cy="6172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Correct reporting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 report validation accuracy, not test accuracy. The 872-example SST-2 validation split is the labeled evaluation set used for local scoring.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Inference pipeline: text becomes tensors, tensors become logits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same input/output pipeline is used by FP32, quantized, and compiled variants.</a:t>
            </a:r>
            <a:endParaRPr sz="1100"/>
          </a:p>
        </p:txBody>
      </p:sp>
      <p:sp>
        <p:nvSpPr>
          <p:cNvPr id="179" name="Google Shape;179;p28"/>
          <p:cNvSpPr/>
          <p:nvPr/>
        </p:nvSpPr>
        <p:spPr>
          <a:xfrm>
            <a:off x="37719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Raw text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“This movie was excellent”</a:t>
            </a:r>
            <a:endParaRPr sz="1100"/>
          </a:p>
        </p:txBody>
      </p:sp>
      <p:sp>
        <p:nvSpPr>
          <p:cNvPr id="180" name="Google Shape;180;p28"/>
          <p:cNvSpPr/>
          <p:nvPr/>
        </p:nvSpPr>
        <p:spPr>
          <a:xfrm>
            <a:off x="1577340" y="1426464"/>
            <a:ext cx="30861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181737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Tokenizer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WordPiece vocabulary</a:t>
            </a:r>
            <a:endParaRPr sz="1100"/>
          </a:p>
        </p:txBody>
      </p:sp>
      <p:sp>
        <p:nvSpPr>
          <p:cNvPr id="182" name="Google Shape;182;p28"/>
          <p:cNvSpPr/>
          <p:nvPr/>
        </p:nvSpPr>
        <p:spPr>
          <a:xfrm>
            <a:off x="3017520" y="1426464"/>
            <a:ext cx="30861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25755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Model inputs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input_ids + attention_mask</a:t>
            </a:r>
            <a:endParaRPr sz="1100"/>
          </a:p>
        </p:txBody>
      </p:sp>
      <p:sp>
        <p:nvSpPr>
          <p:cNvPr id="184" name="Google Shape;184;p28"/>
          <p:cNvSpPr/>
          <p:nvPr/>
        </p:nvSpPr>
        <p:spPr>
          <a:xfrm>
            <a:off x="4457700" y="1426464"/>
            <a:ext cx="30861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469773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DistilBERT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encoder + classifier head</a:t>
            </a:r>
            <a:endParaRPr sz="1100"/>
          </a:p>
        </p:txBody>
      </p:sp>
      <p:sp>
        <p:nvSpPr>
          <p:cNvPr id="186" name="Google Shape;186;p28"/>
          <p:cNvSpPr/>
          <p:nvPr/>
        </p:nvSpPr>
        <p:spPr>
          <a:xfrm>
            <a:off x="5897880" y="1426464"/>
            <a:ext cx="30861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13791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Logits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[neg_score, pos_score]</a:t>
            </a:r>
            <a:endParaRPr sz="1100"/>
          </a:p>
        </p:txBody>
      </p:sp>
      <p:sp>
        <p:nvSpPr>
          <p:cNvPr id="188" name="Google Shape;188;p28"/>
          <p:cNvSpPr/>
          <p:nvPr/>
        </p:nvSpPr>
        <p:spPr>
          <a:xfrm>
            <a:off x="7338060" y="1426464"/>
            <a:ext cx="30861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7578090" y="1200150"/>
            <a:ext cx="1220724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argmax(logits)</a:t>
            </a:r>
            <a:endParaRPr sz="1100"/>
          </a:p>
        </p:txBody>
      </p:sp>
      <p:sp>
        <p:nvSpPr>
          <p:cNvPr id="190" name="Google Shape;190;p28"/>
          <p:cNvSpPr/>
          <p:nvPr/>
        </p:nvSpPr>
        <p:spPr>
          <a:xfrm>
            <a:off x="720090" y="2503170"/>
            <a:ext cx="3634740" cy="102870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Tensor shapes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input_ids: [B, L]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attention_mask: [B, L]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labels: [B]</a:t>
            </a:r>
            <a:endParaRPr sz="1100"/>
          </a:p>
        </p:txBody>
      </p:sp>
      <p:sp>
        <p:nvSpPr>
          <p:cNvPr id="191" name="Google Shape;191;p28"/>
          <p:cNvSpPr/>
          <p:nvPr/>
        </p:nvSpPr>
        <p:spPr>
          <a:xfrm>
            <a:off x="4766310" y="2503170"/>
            <a:ext cx="3634740" cy="102870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Prediction rule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argmax(logits) chooses the larger class score. Logits are raw class scores, not probabilities.</a:t>
            </a:r>
            <a:endParaRPr sz="1100"/>
          </a:p>
        </p:txBody>
      </p:sp>
      <p:sp>
        <p:nvSpPr>
          <p:cNvPr id="192" name="Google Shape;192;p28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193" name="Google Shape;193;p28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377190" y="240030"/>
            <a:ext cx="8366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FP32 baseline: reference model</a:t>
            </a:r>
            <a:endParaRPr sz="1100"/>
          </a:p>
        </p:txBody>
      </p:sp>
      <p:sp>
        <p:nvSpPr>
          <p:cNvPr id="200" name="Google Shape;200;p29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optimized variants are compared against the same full-SST-2 trained checkpoint.</a:t>
            </a:r>
            <a:endParaRPr sz="1100"/>
          </a:p>
        </p:txBody>
      </p:sp>
      <p:sp>
        <p:nvSpPr>
          <p:cNvPr id="201" name="Google Shape;201;p29"/>
          <p:cNvSpPr/>
          <p:nvPr/>
        </p:nvSpPr>
        <p:spPr>
          <a:xfrm>
            <a:off x="548640" y="960120"/>
            <a:ext cx="329184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Training setup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Base model: distilbert-base-uncased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Train split: 67,349 examples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Validation split: 872 examples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Epochs: 1 · Seed: 42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Training hardware: A100 GPU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Evaluation metric: validation accuracy</a:t>
            </a:r>
            <a:endParaRPr sz="1100"/>
          </a:p>
        </p:txBody>
      </p:sp>
      <p:sp>
        <p:nvSpPr>
          <p:cNvPr id="202" name="Google Shape;202;p29"/>
          <p:cNvSpPr/>
          <p:nvPr/>
        </p:nvSpPr>
        <p:spPr>
          <a:xfrm>
            <a:off x="4149078" y="908692"/>
            <a:ext cx="2023200" cy="75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90.48%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FP32 validation accuracy</a:t>
            </a:r>
            <a:endParaRPr b="1"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789 / 872 correct</a:t>
            </a:r>
            <a:endParaRPr b="1" sz="1100"/>
          </a:p>
        </p:txBody>
      </p:sp>
      <p:sp>
        <p:nvSpPr>
          <p:cNvPr id="203" name="Google Shape;203;p29"/>
          <p:cNvSpPr/>
          <p:nvPr/>
        </p:nvSpPr>
        <p:spPr>
          <a:xfrm>
            <a:off x="6480810" y="925830"/>
            <a:ext cx="2023110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435.28 ms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local CPU batch-8 latency</a:t>
            </a:r>
            <a:endParaRPr sz="1100"/>
          </a:p>
        </p:txBody>
      </p:sp>
      <p:sp>
        <p:nvSpPr>
          <p:cNvPr id="204" name="Google Shape;204;p29"/>
          <p:cNvSpPr/>
          <p:nvPr/>
        </p:nvSpPr>
        <p:spPr>
          <a:xfrm>
            <a:off x="4149078" y="1920390"/>
            <a:ext cx="2023200" cy="75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18.38sentences/s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batch-8 throughput</a:t>
            </a:r>
            <a:endParaRPr sz="1100"/>
          </a:p>
        </p:txBody>
      </p:sp>
      <p:sp>
        <p:nvSpPr>
          <p:cNvPr id="205" name="Google Shape;205;p29"/>
          <p:cNvSpPr/>
          <p:nvPr/>
        </p:nvSpPr>
        <p:spPr>
          <a:xfrm>
            <a:off x="6480810" y="1920240"/>
            <a:ext cx="2023110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255.45 MB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FP32 model size</a:t>
            </a:r>
            <a:endParaRPr sz="1100"/>
          </a:p>
        </p:txBody>
      </p:sp>
      <p:sp>
        <p:nvSpPr>
          <p:cNvPr id="206" name="Google Shape;206;p29"/>
          <p:cNvSpPr/>
          <p:nvPr/>
        </p:nvSpPr>
        <p:spPr>
          <a:xfrm>
            <a:off x="651510" y="3566160"/>
            <a:ext cx="7818120" cy="6172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Baseline definition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baseline is the original fine-tuned FP32 DistilBERT model before compression or compiled execution. It is the reference for quality, latency, throughput, memory, and model size.</a:t>
            </a:r>
            <a:endParaRPr sz="1100"/>
          </a:p>
        </p:txBody>
      </p:sp>
      <p:sp>
        <p:nvSpPr>
          <p:cNvPr id="207" name="Google Shape;207;p29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08" name="Google Shape;208;p29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Optimization methods: compression vs runtime compilation</a:t>
            </a:r>
            <a:endParaRPr sz="1100"/>
          </a:p>
        </p:txBody>
      </p:sp>
      <p:sp>
        <p:nvSpPr>
          <p:cNvPr id="215" name="Google Shape;215;p30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Dynamic quantization changes numerical representation; torch.compile changes execution.</a:t>
            </a:r>
            <a:endParaRPr sz="1100"/>
          </a:p>
        </p:txBody>
      </p:sp>
      <p:sp>
        <p:nvSpPr>
          <p:cNvPr id="216" name="Google Shape;216;p30"/>
          <p:cNvSpPr/>
          <p:nvPr/>
        </p:nvSpPr>
        <p:spPr>
          <a:xfrm>
            <a:off x="582930" y="925830"/>
            <a:ext cx="3874770" cy="291465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Dynamic INT8 quantization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Applied to Linear layers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Reduces stored model size using lower-precision weights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Can speed CPU matrix multiplications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Can slightly change logits and prediction boundaries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Best for: smaller model + faster CPU inference</a:t>
            </a:r>
            <a:endParaRPr sz="1100"/>
          </a:p>
        </p:txBody>
      </p:sp>
      <p:sp>
        <p:nvSpPr>
          <p:cNvPr id="217" name="Google Shape;217;p30"/>
          <p:cNvSpPr/>
          <p:nvPr/>
        </p:nvSpPr>
        <p:spPr>
          <a:xfrm>
            <a:off x="4697730" y="925830"/>
            <a:ext cx="3874770" cy="291465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torch.compile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Captures PyTorch operations into graph regions using TorchDynamo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Backend compiles/optimizes execution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Weights remain FP32, so model size does not shrink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First call includes compilation overhead</a:t>
            </a: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Best for: steady-state runtime improvement</a:t>
            </a:r>
            <a:endParaRPr sz="1100"/>
          </a:p>
        </p:txBody>
      </p:sp>
      <p:sp>
        <p:nvSpPr>
          <p:cNvPr id="218" name="Google Shape;218;p30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19" name="Google Shape;219;p30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pic>
        <p:nvPicPr>
          <p:cNvPr id="220" name="Google Shape;2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torch.compile result: accuracy preserved, modest steady-state speedup</a:t>
            </a:r>
            <a:endParaRPr sz="1100"/>
          </a:p>
        </p:txBody>
      </p:sp>
      <p:sp>
        <p:nvSpPr>
          <p:cNvPr id="227" name="Google Shape;227;p31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Compiled execution changes runtime behavior, not the saved FP32 weights.</a:t>
            </a:r>
            <a:endParaRPr sz="1100"/>
          </a:p>
        </p:txBody>
      </p:sp>
      <p:sp>
        <p:nvSpPr>
          <p:cNvPr id="228" name="Google Shape;228;p31"/>
          <p:cNvSpPr/>
          <p:nvPr/>
        </p:nvSpPr>
        <p:spPr>
          <a:xfrm>
            <a:off x="514350" y="96012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Eager FP32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Python/PyTorch op-by-op</a:t>
            </a:r>
            <a:endParaRPr sz="1100"/>
          </a:p>
        </p:txBody>
      </p:sp>
      <p:sp>
        <p:nvSpPr>
          <p:cNvPr id="229" name="Google Shape;229;p31"/>
          <p:cNvSpPr/>
          <p:nvPr/>
        </p:nvSpPr>
        <p:spPr>
          <a:xfrm>
            <a:off x="2160270" y="1200150"/>
            <a:ext cx="308610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2640330" y="96012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TorchDynamo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graph capture</a:t>
            </a:r>
            <a:endParaRPr sz="1100"/>
          </a:p>
        </p:txBody>
      </p:sp>
      <p:sp>
        <p:nvSpPr>
          <p:cNvPr id="231" name="Google Shape;231;p31"/>
          <p:cNvSpPr/>
          <p:nvPr/>
        </p:nvSpPr>
        <p:spPr>
          <a:xfrm>
            <a:off x="4286250" y="1200150"/>
            <a:ext cx="308610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4766310" y="96012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Backend compile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optimized graph region</a:t>
            </a:r>
            <a:endParaRPr sz="1100"/>
          </a:p>
        </p:txBody>
      </p:sp>
      <p:sp>
        <p:nvSpPr>
          <p:cNvPr id="233" name="Google Shape;233;p31"/>
          <p:cNvSpPr/>
          <p:nvPr/>
        </p:nvSpPr>
        <p:spPr>
          <a:xfrm>
            <a:off x="6412230" y="1200150"/>
            <a:ext cx="308610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8D2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6892290" y="96012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Repeated calls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reuse compiled execution</a:t>
            </a:r>
            <a:endParaRPr sz="1100"/>
          </a:p>
        </p:txBody>
      </p:sp>
      <p:graphicFrame>
        <p:nvGraphicFramePr>
          <p:cNvPr id="235" name="Google Shape;235;p31"/>
          <p:cNvGraphicFramePr/>
          <p:nvPr/>
        </p:nvGraphicFramePr>
        <p:xfrm>
          <a:off x="651510" y="2228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{306EE546-63AE-4C1B-9296-758616A42D5A}</a:tableStyleId>
              </a:tblPr>
              <a:tblGrid>
                <a:gridCol w="1371600"/>
                <a:gridCol w="1234425"/>
                <a:gridCol w="1234425"/>
              </a:tblGrid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FP32 baseline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Compiled FP32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 / 872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Batch-8 latency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435.28 ms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394.05 ms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Throughput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18.38/s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20.30/s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size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255.45 MB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255.45 MB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  <a:tr h="2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compiled call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 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81.52 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31"/>
          <p:cNvSpPr/>
          <p:nvPr/>
        </p:nvSpPr>
        <p:spPr>
          <a:xfrm>
            <a:off x="4766310" y="2228850"/>
            <a:ext cx="3669030" cy="161163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torch.compile preserved model quality and improved steady-state latency by about 1.10×. However, the first compiled call took 81.52 seconds, so compile overhead matters for short-running workloads.</a:t>
            </a:r>
            <a:endParaRPr sz="1100"/>
          </a:p>
        </p:txBody>
      </p:sp>
      <p:sp>
        <p:nvSpPr>
          <p:cNvPr id="237" name="Google Shape;237;p31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38" name="Google Shape;238;p31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/>
          </a:p>
        </p:txBody>
      </p:sp>
      <p:pic>
        <p:nvPicPr>
          <p:cNvPr id="239" name="Google Shape;2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Benchmark methodology and environment</a:t>
            </a:r>
            <a:endParaRPr sz="1100"/>
          </a:p>
        </p:txBody>
      </p:sp>
      <p:sp>
        <p:nvSpPr>
          <p:cNvPr id="246" name="Google Shape;246;p32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Fair comparison requires separating training hardware from inference benchmarking.</a:t>
            </a:r>
            <a:endParaRPr sz="1100"/>
          </a:p>
        </p:txBody>
      </p:sp>
      <p:sp>
        <p:nvSpPr>
          <p:cNvPr id="247" name="Google Shape;247;p32"/>
          <p:cNvSpPr/>
          <p:nvPr/>
        </p:nvSpPr>
        <p:spPr>
          <a:xfrm>
            <a:off x="514350" y="822960"/>
            <a:ext cx="3909060" cy="137160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Full SST-2 fine-tuning was done on the university A100 GPU. This made full-dataset training fast and proposal-aligned.</a:t>
            </a:r>
            <a:endParaRPr sz="1100"/>
          </a:p>
        </p:txBody>
      </p:sp>
      <p:sp>
        <p:nvSpPr>
          <p:cNvPr id="248" name="Google Shape;248;p32"/>
          <p:cNvSpPr/>
          <p:nvPr/>
        </p:nvSpPr>
        <p:spPr>
          <a:xfrm>
            <a:off x="4697730" y="822960"/>
            <a:ext cx="3909060" cy="13716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Inference comparison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Batch-8 CPU inference comparison was run locally after transferring the full checkpoint. CPU benchmarking is relevant because PyTorch dynamic quantization targets CPU inference.</a:t>
            </a:r>
            <a:endParaRPr sz="1100"/>
          </a:p>
        </p:txBody>
      </p:sp>
      <p:sp>
        <p:nvSpPr>
          <p:cNvPr id="249" name="Google Shape;249;p32"/>
          <p:cNvSpPr/>
          <p:nvPr/>
        </p:nvSpPr>
        <p:spPr>
          <a:xfrm>
            <a:off x="514350" y="2914650"/>
            <a:ext cx="1440300" cy="850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model.eval()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disable training behavior</a:t>
            </a:r>
            <a:endParaRPr sz="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Avoid dropout - turn off activations to reduce overfitting during training</a:t>
            </a:r>
            <a:endParaRPr sz="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2215138" y="2823350"/>
            <a:ext cx="1440300" cy="941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no_grad()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avoid gradient tracking</a:t>
            </a:r>
            <a:endParaRPr sz="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Because no training, we are doing inference which uses less memory</a:t>
            </a:r>
            <a:endParaRPr sz="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3915918" y="2914650"/>
            <a:ext cx="144018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warmup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avoid startup noise</a:t>
            </a:r>
            <a:endParaRPr sz="1100"/>
          </a:p>
        </p:txBody>
      </p:sp>
      <p:sp>
        <p:nvSpPr>
          <p:cNvPr id="252" name="Google Shape;252;p32"/>
          <p:cNvSpPr/>
          <p:nvPr/>
        </p:nvSpPr>
        <p:spPr>
          <a:xfrm>
            <a:off x="5616702" y="2914650"/>
            <a:ext cx="144018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measured runs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latency + throughput</a:t>
            </a:r>
            <a:endParaRPr sz="1100"/>
          </a:p>
        </p:txBody>
      </p:sp>
      <p:sp>
        <p:nvSpPr>
          <p:cNvPr id="253" name="Google Shape;253;p32"/>
          <p:cNvSpPr/>
          <p:nvPr/>
        </p:nvSpPr>
        <p:spPr>
          <a:xfrm>
            <a:off x="7317486" y="2914650"/>
            <a:ext cx="1440180" cy="72009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same validation split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872 labeled examples</a:t>
            </a:r>
            <a:endParaRPr sz="1100"/>
          </a:p>
        </p:txBody>
      </p:sp>
      <p:sp>
        <p:nvSpPr>
          <p:cNvPr id="254" name="Google Shape;254;p32"/>
          <p:cNvSpPr/>
          <p:nvPr/>
        </p:nvSpPr>
        <p:spPr>
          <a:xfrm>
            <a:off x="651510" y="4149090"/>
            <a:ext cx="7818120" cy="37719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Accuracy · Correct count · Latency · Throughput · Model size · Memory · Compile first-call overhead</a:t>
            </a:r>
            <a:endParaRPr sz="1100"/>
          </a:p>
        </p:txBody>
      </p:sp>
      <p:sp>
        <p:nvSpPr>
          <p:cNvPr id="255" name="Google Shape;255;p32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56" name="Google Shape;256;p32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Main batch-8 result: full-SST-2 trained checkpoint</a:t>
            </a:r>
            <a:endParaRPr sz="1100"/>
          </a:p>
        </p:txBody>
      </p:sp>
      <p:sp>
        <p:nvSpPr>
          <p:cNvPr id="263" name="Google Shape;263;p33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Dynamic quantization gives the strongest size and latency improvement; torch.compile preserves accuracy but has high first-call overhead.</a:t>
            </a:r>
            <a:endParaRPr sz="1100"/>
          </a:p>
        </p:txBody>
      </p:sp>
      <p:graphicFrame>
        <p:nvGraphicFramePr>
          <p:cNvPr id="264" name="Google Shape;264;p33"/>
          <p:cNvGraphicFramePr/>
          <p:nvPr/>
        </p:nvGraphicFramePr>
        <p:xfrm>
          <a:off x="308610" y="92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{306EE546-63AE-4C1B-9296-758616A42D5A}</a:tableStyleId>
              </a:tblPr>
              <a:tblGrid>
                <a:gridCol w="1179575"/>
                <a:gridCol w="857250"/>
                <a:gridCol w="925825"/>
                <a:gridCol w="960100"/>
                <a:gridCol w="720075"/>
                <a:gridCol w="925825"/>
                <a:gridCol w="960100"/>
                <a:gridCol w="1268725"/>
              </a:tblGrid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Variant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 / 872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Latency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Speedup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Throughput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Size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Compile First Call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122440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FP32 baseline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435.28 ms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1.00×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18.38/s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255.45 MB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 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Dynamic INT8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0.8968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782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238.40 ms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1.83×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33.56/s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132.29 MB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 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8FAFC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Compiled FP32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0.9048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394.05 ms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1.10×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20.30/s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255.45 MB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81.52 s</a:t>
                      </a:r>
                      <a:endParaRPr sz="1100"/>
                    </a:p>
                  </a:txBody>
                  <a:tcPr marT="20575" marB="20575" marR="34300" marL="3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33"/>
          <p:cNvSpPr/>
          <p:nvPr/>
        </p:nvSpPr>
        <p:spPr>
          <a:xfrm>
            <a:off x="651510" y="2434590"/>
            <a:ext cx="164592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1.83×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INT8 latency speedup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435.28 → 238.40 ms</a:t>
            </a:r>
            <a:endParaRPr sz="1100"/>
          </a:p>
        </p:txBody>
      </p:sp>
      <p:sp>
        <p:nvSpPr>
          <p:cNvPr id="266" name="Google Shape;266;p33"/>
          <p:cNvSpPr/>
          <p:nvPr/>
        </p:nvSpPr>
        <p:spPr>
          <a:xfrm>
            <a:off x="2537460" y="2434590"/>
            <a:ext cx="164592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48.2%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INT8 size reduction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255.45 → 132.29 MB</a:t>
            </a:r>
            <a:endParaRPr sz="1100"/>
          </a:p>
        </p:txBody>
      </p:sp>
      <p:sp>
        <p:nvSpPr>
          <p:cNvPr id="267" name="Google Shape;267;p33"/>
          <p:cNvSpPr/>
          <p:nvPr/>
        </p:nvSpPr>
        <p:spPr>
          <a:xfrm>
            <a:off x="4423410" y="2434590"/>
            <a:ext cx="164592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0.80 pp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INT8 accuracy drop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90.48% → 89.68%</a:t>
            </a:r>
            <a:endParaRPr sz="1100"/>
          </a:p>
        </p:txBody>
      </p:sp>
      <p:sp>
        <p:nvSpPr>
          <p:cNvPr id="268" name="Google Shape;268;p33"/>
          <p:cNvSpPr/>
          <p:nvPr/>
        </p:nvSpPr>
        <p:spPr>
          <a:xfrm>
            <a:off x="6309360" y="2434590"/>
            <a:ext cx="164592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81.52 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compile first call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batch-8</a:t>
            </a:r>
            <a:endParaRPr sz="1100"/>
          </a:p>
        </p:txBody>
      </p:sp>
      <p:sp>
        <p:nvSpPr>
          <p:cNvPr id="269" name="Google Shape;269;p33"/>
          <p:cNvSpPr/>
          <p:nvPr/>
        </p:nvSpPr>
        <p:spPr>
          <a:xfrm>
            <a:off x="651510" y="3566160"/>
            <a:ext cx="7818120" cy="65151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Careful interpretation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Quantization improved size and latency, but it did not preserve exact accuracy. torch.compile preserved accuracy and slightly improved steady-state latency, but first-call compilation overhead was large.</a:t>
            </a:r>
            <a:endParaRPr sz="1100"/>
          </a:p>
        </p:txBody>
      </p:sp>
      <p:sp>
        <p:nvSpPr>
          <p:cNvPr id="270" name="Google Shape;270;p33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71" name="Google Shape;271;p33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Visual comparison at batch size 8</a:t>
            </a:r>
            <a:endParaRPr sz="1100"/>
          </a:p>
        </p:txBody>
      </p:sp>
      <p:sp>
        <p:nvSpPr>
          <p:cNvPr id="278" name="Google Shape;278;p34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Lower latency and smaller size are better; higher throughput is better.</a:t>
            </a:r>
            <a:endParaRPr sz="1100"/>
          </a:p>
        </p:txBody>
      </p:sp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" y="857250"/>
            <a:ext cx="260604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130" y="857250"/>
            <a:ext cx="260604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6490" y="857250"/>
            <a:ext cx="260604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5889" y="3154680"/>
            <a:ext cx="2777490" cy="133731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/>
          <p:nvPr/>
        </p:nvSpPr>
        <p:spPr>
          <a:xfrm>
            <a:off x="4560570" y="3188970"/>
            <a:ext cx="3874770" cy="92583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Reading the charts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INT8 is the smallest and fastest in the local CPU batch-8 run. Compiled FP32 preserves FP32 accuracy but gives a smaller latency gain and has high startup compile cost.</a:t>
            </a:r>
            <a:endParaRPr sz="1100"/>
          </a:p>
        </p:txBody>
      </p:sp>
      <p:sp>
        <p:nvSpPr>
          <p:cNvPr id="284" name="Google Shape;284;p34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285" name="Google Shape;285;p34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Quantization diagnostic: smaller and faster, but not prediction-identical</a:t>
            </a:r>
            <a:endParaRPr sz="1100"/>
          </a:p>
        </p:txBody>
      </p:sp>
      <p:sp>
        <p:nvSpPr>
          <p:cNvPr id="292" name="Google Shape;292;p35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Prediction-level checks prevent misleading accuracy claims.</a:t>
            </a:r>
            <a:endParaRPr sz="1100"/>
          </a:p>
        </p:txBody>
      </p:sp>
      <p:sp>
        <p:nvSpPr>
          <p:cNvPr id="293" name="Google Shape;293;p35"/>
          <p:cNvSpPr/>
          <p:nvPr/>
        </p:nvSpPr>
        <p:spPr>
          <a:xfrm>
            <a:off x="548640" y="857250"/>
            <a:ext cx="3806190" cy="92583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Dynamic quantization changes numerical representation in Linear layers. That can slightly shift logits and flip some low-margin predictions.</a:t>
            </a:r>
            <a:endParaRPr sz="1100"/>
          </a:p>
        </p:txBody>
      </p:sp>
      <p:sp>
        <p:nvSpPr>
          <p:cNvPr id="294" name="Google Shape;294;p35"/>
          <p:cNvSpPr/>
          <p:nvPr/>
        </p:nvSpPr>
        <p:spPr>
          <a:xfrm>
            <a:off x="4697730" y="857250"/>
            <a:ext cx="3806190" cy="92583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Diagnostic run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full-model diagnostic run at batch size 8 showed 38 changed predictions: 21 FP32-correct examples became wrong and 17 FP32-wrong examples became correct.</a:t>
            </a:r>
            <a:endParaRPr sz="1100"/>
          </a:p>
        </p:txBody>
      </p:sp>
      <p:sp>
        <p:nvSpPr>
          <p:cNvPr id="295" name="Google Shape;295;p35"/>
          <p:cNvSpPr/>
          <p:nvPr/>
        </p:nvSpPr>
        <p:spPr>
          <a:xfrm>
            <a:off x="685800" y="216027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changed predictions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 of 872</a:t>
            </a:r>
            <a:endParaRPr sz="1100"/>
          </a:p>
        </p:txBody>
      </p:sp>
      <p:sp>
        <p:nvSpPr>
          <p:cNvPr id="296" name="Google Shape;296;p35"/>
          <p:cNvSpPr/>
          <p:nvPr/>
        </p:nvSpPr>
        <p:spPr>
          <a:xfrm>
            <a:off x="2708910" y="216027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correct → wrong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harmful flips</a:t>
            </a:r>
            <a:endParaRPr sz="1100"/>
          </a:p>
        </p:txBody>
      </p:sp>
      <p:sp>
        <p:nvSpPr>
          <p:cNvPr id="297" name="Google Shape;297;p35"/>
          <p:cNvSpPr/>
          <p:nvPr/>
        </p:nvSpPr>
        <p:spPr>
          <a:xfrm>
            <a:off x="4732020" y="216027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wrong → correct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helpful flips</a:t>
            </a:r>
            <a:endParaRPr sz="1100"/>
          </a:p>
        </p:txBody>
      </p:sp>
      <p:sp>
        <p:nvSpPr>
          <p:cNvPr id="298" name="Google Shape;298;p35"/>
          <p:cNvSpPr/>
          <p:nvPr/>
        </p:nvSpPr>
        <p:spPr>
          <a:xfrm>
            <a:off x="6755130" y="2160270"/>
            <a:ext cx="174879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low margin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flipped examples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near decision boundary</a:t>
            </a:r>
            <a:endParaRPr sz="1100"/>
          </a:p>
        </p:txBody>
      </p:sp>
      <p:sp>
        <p:nvSpPr>
          <p:cNvPr id="299" name="Google Shape;299;p35"/>
          <p:cNvSpPr/>
          <p:nvPr/>
        </p:nvSpPr>
        <p:spPr>
          <a:xfrm>
            <a:off x="685800" y="3463290"/>
            <a:ext cx="7749540" cy="61722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INT8 model should be reported as a size/latency optimization with a small accuracy tradeoff, not as a model-quality improvement.</a:t>
            </a:r>
            <a:endParaRPr sz="1100"/>
          </a:p>
        </p:txBody>
      </p:sp>
      <p:sp>
        <p:nvSpPr>
          <p:cNvPr id="300" name="Google Shape;300;p35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301" name="Google Shape;301;p35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6F8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6"/>
          <p:cNvSpPr txBox="1"/>
          <p:nvPr/>
        </p:nvSpPr>
        <p:spPr>
          <a:xfrm>
            <a:off x="377190" y="240030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Conclusion: dynamic quantization was the strongest practical optimization</a:t>
            </a:r>
            <a:endParaRPr sz="1100"/>
          </a:p>
        </p:txBody>
      </p:sp>
      <p:sp>
        <p:nvSpPr>
          <p:cNvPr id="308" name="Google Shape;308;p36"/>
          <p:cNvSpPr txBox="1"/>
          <p:nvPr/>
        </p:nvSpPr>
        <p:spPr>
          <a:xfrm>
            <a:off x="390905" y="637794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Final results are based on full SST-2 training and batch-8 CPU inference comparison.</a:t>
            </a:r>
            <a:endParaRPr sz="1100"/>
          </a:p>
        </p:txBody>
      </p:sp>
      <p:sp>
        <p:nvSpPr>
          <p:cNvPr id="309" name="Google Shape;309;p36"/>
          <p:cNvSpPr/>
          <p:nvPr/>
        </p:nvSpPr>
        <p:spPr>
          <a:xfrm>
            <a:off x="548640" y="925830"/>
            <a:ext cx="2537460" cy="150876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Best size + latency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Dynamic quantization reduced model size by 48.2% and improved batch-8 latency by 1.83×.</a:t>
            </a:r>
            <a:endParaRPr sz="1100"/>
          </a:p>
        </p:txBody>
      </p:sp>
      <p:sp>
        <p:nvSpPr>
          <p:cNvPr id="310" name="Google Shape;310;p36"/>
          <p:cNvSpPr/>
          <p:nvPr/>
        </p:nvSpPr>
        <p:spPr>
          <a:xfrm>
            <a:off x="3326130" y="925830"/>
            <a:ext cx="2537460" cy="150876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Quality tradeoff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INT8 accuracy dropped from 90.48% to 89.68% in the local batch-8 run, a small but real tradeoff.</a:t>
            </a:r>
            <a:endParaRPr sz="1100"/>
          </a:p>
        </p:txBody>
      </p:sp>
      <p:sp>
        <p:nvSpPr>
          <p:cNvPr id="311" name="Google Shape;311;p36"/>
          <p:cNvSpPr/>
          <p:nvPr/>
        </p:nvSpPr>
        <p:spPr>
          <a:xfrm>
            <a:off x="6103620" y="925830"/>
            <a:ext cx="2537460" cy="15087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Compile tradeoff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torch.compile preserved accuracy and slightly improved latency, but first-call compile overhead was high.</a:t>
            </a:r>
            <a:endParaRPr sz="1100"/>
          </a:p>
        </p:txBody>
      </p:sp>
      <p:sp>
        <p:nvSpPr>
          <p:cNvPr id="312" name="Google Shape;312;p36"/>
          <p:cNvSpPr/>
          <p:nvPr/>
        </p:nvSpPr>
        <p:spPr>
          <a:xfrm>
            <a:off x="685800" y="3120390"/>
            <a:ext cx="7749540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82300" lIns="109725" spcFirstLastPara="1" rIns="109725" wrap="square" tIns="8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22440"/>
                </a:solidFill>
                <a:latin typeface="Calibri"/>
                <a:ea typeface="Calibri"/>
                <a:cs typeface="Calibri"/>
                <a:sym typeface="Calibri"/>
              </a:rPr>
              <a:t>Final takeaway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Inference optimization cannot be judged by one metric. We measured accuracy, correct count, latency, throughput, model size, and compile overhead. Dynamic quantization gave the best deployment-style size/latency improvement, while diagnostics showed why optimized models must still be validated carefully.</a:t>
            </a:r>
            <a:endParaRPr sz="1100"/>
          </a:p>
        </p:txBody>
      </p:sp>
      <p:sp>
        <p:nvSpPr>
          <p:cNvPr id="313" name="Google Shape;313;p36"/>
          <p:cNvSpPr txBox="1"/>
          <p:nvPr/>
        </p:nvSpPr>
        <p:spPr>
          <a:xfrm>
            <a:off x="377190" y="4910328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CSCI 611 · Efficient Transformer Inference · Full SST-2 Final Results</a:t>
            </a:r>
            <a:endParaRPr sz="1100"/>
          </a:p>
        </p:txBody>
      </p:sp>
      <p:sp>
        <p:nvSpPr>
          <p:cNvPr id="314" name="Google Shape;314;p36"/>
          <p:cNvSpPr txBox="1"/>
          <p:nvPr/>
        </p:nvSpPr>
        <p:spPr>
          <a:xfrm>
            <a:off x="8606790" y="4910328"/>
            <a:ext cx="2743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